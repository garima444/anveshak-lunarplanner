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75" r:id="rId3"/>
    <p:sldId id="274" r:id="rId4"/>
    <p:sldId id="276" r:id="rId5"/>
    <p:sldId id="277" r:id="rId6"/>
    <p:sldId id="279" r:id="rId7"/>
    <p:sldId id="273" r:id="rId8"/>
    <p:sldId id="278" r:id="rId9"/>
    <p:sldId id="283" r:id="rId10"/>
    <p:sldId id="284" r:id="rId11"/>
    <p:sldId id="286" r:id="rId12"/>
    <p:sldId id="287" r:id="rId13"/>
    <p:sldId id="288" r:id="rId14"/>
    <p:sldId id="285" r:id="rId15"/>
    <p:sldId id="280" r:id="rId16"/>
    <p:sldId id="281" r:id="rId17"/>
    <p:sldId id="289" r:id="rId18"/>
    <p:sldId id="282" r:id="rId19"/>
    <p:sldId id="290" r:id="rId26"/>
    <p:sldId id="291" r:id="rId27"/>
    <p:sldId id="292" r:id="rId28"/>
    <p:sldId id="293" r:id="rId29"/>
    <p:sldId id="29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ita gigras" userId="41a9e89cd7006bf2" providerId="LiveId" clId="{7E52E276-2592-4DA1-A98B-3D8C5121D8F9}"/>
    <pc:docChg chg="modSld">
      <pc:chgData name="yogita gigras" userId="41a9e89cd7006bf2" providerId="LiveId" clId="{7E52E276-2592-4DA1-A98B-3D8C5121D8F9}" dt="2022-02-16T06:54:18.988" v="12" actId="20577"/>
      <pc:docMkLst>
        <pc:docMk/>
      </pc:docMkLst>
      <pc:sldChg chg="modSp mod">
        <pc:chgData name="yogita gigras" userId="41a9e89cd7006bf2" providerId="LiveId" clId="{7E52E276-2592-4DA1-A98B-3D8C5121D8F9}" dt="2022-02-16T06:54:18.988" v="12" actId="20577"/>
        <pc:sldMkLst>
          <pc:docMk/>
          <pc:sldMk cId="46610961" sldId="257"/>
        </pc:sldMkLst>
        <pc:spChg chg="mod">
          <ac:chgData name="yogita gigras" userId="41a9e89cd7006bf2" providerId="LiveId" clId="{7E52E276-2592-4DA1-A98B-3D8C5121D8F9}" dt="2022-02-16T06:54:18.988" v="12" actId="20577"/>
          <ac:spMkLst>
            <pc:docMk/>
            <pc:sldMk cId="46610961" sldId="257"/>
            <ac:spMk id="3" creationId="{C67EA6FE-966F-4EAC-99D3-A03AF817A52C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DA2F3-DE03-4EDD-9012-E567344B1A90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19BD0-5CCC-475A-9622-BC4D2EC19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20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B8FD-9588-42FA-BD39-3D721F7F4F75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DEF3D-ABAE-4878-8158-6DF0A959B4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28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25B0BE-ADF2-4DDD-93F0-E75DC3D845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B8FD-9588-42FA-BD39-3D721F7F4F75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DEF3D-ABAE-4878-8158-6DF0A959B4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9164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26E98F-C102-4765-A262-3F5FA15024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9B8FD-9588-42FA-BD39-3D721F7F4F75}" type="datetimeFigureOut">
              <a:rPr lang="en-IN" smtClean="0"/>
              <a:t>16-02-2022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DEF3D-ABAE-4878-8158-6DF0A959B4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61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67EA6FE-966F-4EAC-99D3-A03AF817A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103" y="1636169"/>
            <a:ext cx="9144000" cy="2387600"/>
          </a:xfrm>
        </p:spPr>
        <p:txBody>
          <a:bodyPr/>
          <a:lstStyle/>
          <a:p>
            <a:r>
              <a:rPr sz="3200"/>
              <a:t>MID TERM VIII SEMESTER SYNOPSIS
Session 2025–26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1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10AD8C-A341-4A05-9766-88FFC96A4191}"/>
              </a:ext>
            </a:extLst>
          </p:cNvPr>
          <p:cNvSpPr txBox="1">
            <a:spLocks/>
          </p:cNvSpPr>
          <p:nvPr/>
        </p:nvSpPr>
        <p:spPr>
          <a:xfrm>
            <a:off x="3048000" y="996954"/>
            <a:ext cx="9144000" cy="6905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400" b="1"/>
              <a:t>Multi-Resolution Terrain Fusion and ML-Based
Adaptive Landing Site Selection for
Lunar South Pole Rover Missions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E66C618-6C3A-428A-A06D-81E2DCF82BD5}"/>
              </a:ext>
            </a:extLst>
          </p:cNvPr>
          <p:cNvSpPr txBox="1">
            <a:spLocks/>
          </p:cNvSpPr>
          <p:nvPr/>
        </p:nvSpPr>
        <p:spPr>
          <a:xfrm>
            <a:off x="5862638" y="2843643"/>
            <a:ext cx="50756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2000"/>
              <a:t>Team Members:</a:t>
            </a:r>
          </a:p>
          <a:p>
            <a:r>
              <a:rPr b="0" sz="1800"/>
              <a:t>Garima (22CSU067)</a:t>
            </a:r>
          </a:p>
          <a:p>
            <a:r>
              <a:rPr b="0" sz="1800"/>
              <a:t>Garima Juneja (22CSU068)</a:t>
            </a:r>
          </a:p>
          <a:p>
            <a:r>
              <a:rPr b="0" sz="1800"/>
              <a:t>Aryan (22CSU031)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9D39126-CA77-43EE-851C-B6A46040F3CB}"/>
              </a:ext>
            </a:extLst>
          </p:cNvPr>
          <p:cNvSpPr txBox="1">
            <a:spLocks/>
          </p:cNvSpPr>
          <p:nvPr/>
        </p:nvSpPr>
        <p:spPr>
          <a:xfrm>
            <a:off x="379639" y="2876153"/>
            <a:ext cx="35052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b="1" sz="2000"/>
              <a:t>Supervisors:</a:t>
            </a:r>
          </a:p>
          <a:p>
            <a:r>
              <a:rPr b="0" sz="1800"/>
              <a:t>Dr. Snehlata Sheoran</a:t>
            </a:r>
          </a:p>
          <a:p>
            <a:r>
              <a:rPr b="0" sz="1800"/>
              <a:t>Dr. Ankita Bhalla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8FBA76-8801-4BC4-9555-A4D3BF764B04}"/>
              </a:ext>
            </a:extLst>
          </p:cNvPr>
          <p:cNvSpPr txBox="1">
            <a:spLocks/>
          </p:cNvSpPr>
          <p:nvPr/>
        </p:nvSpPr>
        <p:spPr>
          <a:xfrm>
            <a:off x="1290638" y="5515764"/>
            <a:ext cx="9144000" cy="690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800"/>
              <a:t>Department of Computer Science and Engineering
School of Engineering and Technology | The NorthCap University</a:t>
            </a:r>
          </a:p>
        </p:txBody>
      </p:sp>
    </p:spTree>
    <p:extLst>
      <p:ext uri="{BB962C8B-B14F-4D97-AF65-F5344CB8AC3E}">
        <p14:creationId xmlns:p14="http://schemas.microsoft.com/office/powerpoint/2010/main" val="3046472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2C475-9298-48F8-BD74-016528FF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CED4-649F-4520-8E5D-EFEF88156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1.  Description of the Topic / Introduction</a:t>
            </a:r>
            <a:endParaRPr lang="en-IN" dirty="0"/>
          </a:p>
          <a:p>
            <a:pPr/>
            <a:r>
              <a:t>2.  Feasibility Study</a:t>
            </a:r>
          </a:p>
          <a:p>
            <a:pPr/>
            <a:r>
              <a:t>3.  Literature Review &amp; Gap Analysis</a:t>
            </a:r>
          </a:p>
          <a:p>
            <a:pPr/>
            <a:r>
              <a:t>4.  Problem Statement &amp; Objectives</a:t>
            </a:r>
          </a:p>
          <a:p>
            <a:pPr/>
            <a:r>
              <a:t>5.  Tools / Platform Used</a:t>
            </a:r>
          </a:p>
          <a:p>
            <a:pPr/>
            <a:r>
              <a:t>6.  Design Methodology</a:t>
            </a:r>
          </a:p>
          <a:p>
            <a:pPr/>
            <a:r>
              <a:t>7.  Challenges and Issues Identified</a:t>
            </a:r>
          </a:p>
          <a:p>
            <a:pPr/>
            <a:r>
              <a:t>8.  Methodology &amp; Implementation</a:t>
            </a:r>
          </a:p>
          <a:p>
            <a:pPr/>
            <a:r>
              <a:t>9.  Testing and Performance Evaluation</a:t>
            </a:r>
          </a:p>
          <a:p>
            <a:pPr/>
            <a:r>
              <a:t>10. Outcomes</a:t>
            </a:r>
          </a:p>
          <a:p>
            <a:pPr/>
            <a:r>
              <a:t>11. Gantt Chart &amp; Responsibility Chart</a:t>
            </a:r>
          </a:p>
          <a:p>
            <a:pPr/>
            <a:r>
              <a:t>12. Broader Impact / Research Paper Status</a:t>
            </a:r>
          </a:p>
        </p:txBody>
      </p:sp>
    </p:spTree>
    <p:extLst>
      <p:ext uri="{BB962C8B-B14F-4D97-AF65-F5344CB8AC3E}">
        <p14:creationId xmlns:p14="http://schemas.microsoft.com/office/powerpoint/2010/main" val="2196120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2E656-EA5A-465A-896D-070D429C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Description of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DF860-F400-47D4-B4E5-59AFD8491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What is Anveshak?</a:t>
            </a:r>
            <a:endParaRPr lang="en-IN"/>
          </a:p>
          <a:p>
            <a:pPr lvl="1"/>
            <a:r>
              <a:t>Open-source, web-based ML mission planning system for lunar south pole rover operations</a:t>
            </a:r>
          </a:p>
          <a:p>
            <a:pPr lvl="1"/>
            <a:r>
              <a:t>Named after Sanskrit word for 'explorer' / 'investigator'</a:t>
            </a:r>
          </a:p>
          <a:p>
            <a:pPr/>
            <a:r>
              <a:rPr b="1"/>
              <a:t>Why the Lunar South Pole?</a:t>
            </a:r>
          </a:p>
          <a:p>
            <a:pPr lvl="1"/>
            <a:r>
              <a:t>Permanently Shadowed Regions (PSRs) may contain water ice — ISRU fuel, life support, construction</a:t>
            </a:r>
          </a:p>
          <a:p>
            <a:pPr lvl="1"/>
            <a:r>
              <a:t>Primary target: NASA Artemis, ISRO Chandrayaan-3, commercial landers</a:t>
            </a:r>
          </a:p>
          <a:p>
            <a:pPr lvl="1"/>
            <a:r>
              <a:t>Terrain challenges: slopes &gt;20°, deep shadows, −173°C to +127°C temperature range</a:t>
            </a:r>
          </a:p>
          <a:p>
            <a:pPr/>
            <a:r>
              <a:rPr b="1"/>
              <a:t>The Problem with Current Tools</a:t>
            </a:r>
          </a:p>
          <a:p>
            <a:pPr lvl="1"/>
            <a:r>
              <a:t>Existing planning relies on proprietary GIS software &amp; manual expert review</a:t>
            </a:r>
          </a:p>
          <a:p>
            <a:pPr lvl="1"/>
            <a:r>
              <a:t>No integrated, open, end-to-end system combining ML + scoring + pathfinding</a:t>
            </a:r>
          </a:p>
          <a:p>
            <a:pPr/>
            <a:r>
              <a:rPr b="1"/>
              <a:t>Anveshak's Approach</a:t>
            </a:r>
          </a:p>
          <a:p>
            <a:pPr lvl="1"/>
            <a:r>
              <a:t>Ingests NASA LRO LOLA DEM (80–90°S, 60 m/px) → scores sites → classifies terrain → plans paths → detects anomalies → generates advisory report</a:t>
            </a:r>
          </a:p>
          <a:p>
            <a:pPr lvl="1"/>
            <a:r>
              <a:t>All within 18–45 seconds on commodity hardware</a:t>
            </a:r>
          </a:p>
        </p:txBody>
      </p:sp>
    </p:spTree>
    <p:extLst>
      <p:ext uri="{BB962C8B-B14F-4D97-AF65-F5344CB8AC3E}">
        <p14:creationId xmlns:p14="http://schemas.microsoft.com/office/powerpoint/2010/main" val="2337476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B51B-6CD8-4C4A-AA87-7BED58D64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FE5B8-319D-4525-A9ED-574A88FCF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Technical Feasibility</a:t>
            </a:r>
            <a:endParaRPr lang="en-IN"/>
          </a:p>
          <a:p>
            <a:pPr lvl="1"/>
            <a:r>
              <a:t>Full Python open-source stack: rasterio, NumPy, SciPy, scikit-learn, FastAPI, Plotly</a:t>
            </a:r>
          </a:p>
          <a:p>
            <a:pPr lvl="1"/>
            <a:r>
              <a:t>Peak RAM: 1.8 GB — within 16 GB workstation spec</a:t>
            </a:r>
          </a:p>
          <a:p>
            <a:pPr lvl="1"/>
            <a:r>
              <a:t>RF classifier: 50k samples trains in &lt;60 sec; full inference in ~12 sec</a:t>
            </a:r>
          </a:p>
          <a:p>
            <a:pPr lvl="1"/>
            <a:r>
              <a:t>60 m/px downsampling: 9× memory reduction from native 20 m/px</a:t>
            </a:r>
          </a:p>
          <a:p>
            <a:pPr/>
            <a:r>
              <a:rPr b="1"/>
              <a:t>Operational Feasibility</a:t>
            </a:r>
          </a:p>
          <a:p>
            <a:pPr lvl="1"/>
            <a:r>
              <a:t>Browser-based — no client installation; accessible from any modern browser</a:t>
            </a:r>
          </a:p>
          <a:p>
            <a:pPr lvl="1"/>
            <a:r>
              <a:t>NASA LOLA DEM freely available from PDS Geosciences Node</a:t>
            </a:r>
          </a:p>
          <a:p>
            <a:pPr lvl="1"/>
            <a:r>
              <a:t>Server startup: ~12 sec DEM load; subsequent queries: 18–45 sec</a:t>
            </a:r>
          </a:p>
          <a:p>
            <a:pPr/>
            <a:r>
              <a:rPr b="1"/>
              <a:t>Economic Feasibility</a:t>
            </a:r>
          </a:p>
          <a:p>
            <a:pPr lvl="1"/>
            <a:r>
              <a:t>100% open-source licences (BSD, MIT) — zero software licensing cost</a:t>
            </a:r>
          </a:p>
          <a:p>
            <a:pPr lvl="1"/>
            <a:r>
              <a:t>Data: public domain (NASA PDS); Deployment: ~$15–25/month on cloud if needed</a:t>
            </a:r>
          </a:p>
          <a:p>
            <a:pPr/>
            <a:r>
              <a:rPr b="1"/>
              <a:t>Schedule Feasibility</a:t>
            </a:r>
          </a:p>
          <a:p>
            <a:pPr lvl="1"/>
            <a:r>
              <a:t>7 modules completed: Oct 2025 – Mar 2026 (one semester)</a:t>
            </a:r>
          </a:p>
          <a:p>
            <a:pPr lvl="1"/>
            <a:r>
              <a:t>Modular architecture enabled parallel development and incremental integration</a:t>
            </a:r>
          </a:p>
          <a:p>
            <a:pPr lvl="1"/>
            <a:r>
              <a:t>Research paper preparation: Mar – Apr 2026</a:t>
            </a:r>
          </a:p>
        </p:txBody>
      </p:sp>
    </p:spTree>
    <p:extLst>
      <p:ext uri="{BB962C8B-B14F-4D97-AF65-F5344CB8AC3E}">
        <p14:creationId xmlns:p14="http://schemas.microsoft.com/office/powerpoint/2010/main" val="1235157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30DE4-680F-4E64-930C-041EDD2C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Solutions / 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AAD3B-8825-4072-B458-A4F7EEBB8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A. Lunar DEM &amp; Terrain Analysis</a:t>
            </a:r>
            <a:endParaRPr lang="en-IN"/>
          </a:p>
          <a:p>
            <a:pPr lvl="1"/>
            <a:r>
              <a:t>Smith et al. [5]: LOLA instrument, 10 cm vertical precision — basis for LDEM_80S_20M product</a:t>
            </a:r>
          </a:p>
          <a:p>
            <a:pPr lvl="1"/>
            <a:r>
              <a:t>Zuber et al. [6]: Shackleton Crater topography, volatile trapping evidence</a:t>
            </a:r>
          </a:p>
          <a:p>
            <a:pPr lvl="1"/>
            <a:r>
              <a:t>Deutsch et al. [7]: Ice mass estimates using LOLA + Mini-RF + Diviner</a:t>
            </a:r>
          </a:p>
          <a:p>
            <a:pPr/>
            <a:r>
              <a:rPr b="1"/>
              <a:t>B. Landing Site Selection</a:t>
            </a:r>
          </a:p>
          <a:p>
            <a:pPr lvl="1"/>
            <a:r>
              <a:t>Golombek et al. [8]: Multi-criteria scoring for MER (safety + science merit) — direct conceptual basis</a:t>
            </a:r>
          </a:p>
          <a:p>
            <a:pPr lvl="1"/>
            <a:r>
              <a:t>Flahaut et al. [9]: Human lunar landing site ROIs — slope + illumination + science maps</a:t>
            </a:r>
          </a:p>
          <a:p>
            <a:pPr/>
            <a:r>
              <a:rPr b="1"/>
              <a:t>C. ML for Terrain Classification</a:t>
            </a:r>
          </a:p>
          <a:p>
            <a:pPr lvl="1"/>
            <a:r>
              <a:t>Bue &amp; Stepinski [3]: SVM-based geomorphic unit classification from Martian DEM</a:t>
            </a:r>
          </a:p>
          <a:p>
            <a:pPr lvl="1"/>
            <a:r>
              <a:t>Palafox et al. [11]: CNNs for volcanic feature detection on Mars</a:t>
            </a:r>
          </a:p>
          <a:p>
            <a:pPr lvl="1"/>
            <a:r>
              <a:t>Shwartz-Ziv &amp; Armon [19]: Random Forests match/exceed deep learning on tabular data</a:t>
            </a:r>
          </a:p>
          <a:p>
            <a:pPr/>
            <a:r>
              <a:rPr b="1"/>
              <a:t>D. Path Planning</a:t>
            </a:r>
          </a:p>
          <a:p>
            <a:pPr lvl="1"/>
            <a:r>
              <a:t>Stentz [13]: D* algorithm for dynamic replanning (onboard use)</a:t>
            </a:r>
          </a:p>
          <a:p>
            <a:pPr lvl="1"/>
            <a:r>
              <a:t>Ferguson &amp; Stentz [14]: Field D* — interpolated movement on grid representations</a:t>
            </a:r>
          </a:p>
          <a:p>
            <a:pPr lvl="1"/>
            <a:r>
              <a:t>A* with Euclidean heuristic — optimal for known terrain (Anveshak)</a:t>
            </a:r>
          </a:p>
        </p:txBody>
      </p:sp>
    </p:spTree>
    <p:extLst>
      <p:ext uri="{BB962C8B-B14F-4D97-AF65-F5344CB8AC3E}">
        <p14:creationId xmlns:p14="http://schemas.microsoft.com/office/powerpoint/2010/main" val="2636021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7399-3CB3-4584-BE84-063B7195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Gaps in Existing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A9BB8-51D5-408B-89E6-4DF10F2DF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Gap 1: No Integrated Open-Source End-to-End Pipeline</a:t>
            </a:r>
            <a:endParaRPr lang="en-IN" dirty="0"/>
          </a:p>
          <a:p>
            <a:pPr lvl="1"/>
            <a:r>
              <a:t>Existing tools address sub-problems in isolation (GIS tools, path planners, ML classifiers)</a:t>
            </a:r>
          </a:p>
          <a:p>
            <a:pPr lvl="1"/>
            <a:r>
              <a:t>None combine DEM ingestion + ML + scoring + pathfinding + anomaly detection + advisory</a:t>
            </a:r>
          </a:p>
          <a:p>
            <a:pPr/>
            <a:r>
              <a:rPr b="1"/>
              <a:t>Gap 2: Annotation Bottleneck for Supervised Learning</a:t>
            </a:r>
          </a:p>
          <a:p>
            <a:pPr lvl="1"/>
            <a:r>
              <a:t>Prior ML terrain classifiers require expensive manual annotation</a:t>
            </a:r>
          </a:p>
          <a:p>
            <a:pPr lvl="1"/>
            <a:r>
              <a:t>Anveshak's auto-labelling from scoring pipeline eliminates this entirely</a:t>
            </a:r>
          </a:p>
          <a:p>
            <a:pPr/>
            <a:r>
              <a:rPr b="1"/>
              <a:t>Gap 3: No Mission-Profile Parameterisation</a:t>
            </a:r>
          </a:p>
          <a:p>
            <a:pPr lvl="1"/>
            <a:r>
              <a:t>Existing scoring tools use fixed weights; same site = same score regardless of mission objective</a:t>
            </a:r>
          </a:p>
          <a:p>
            <a:pPr lvl="1"/>
            <a:r>
              <a:t>Anveshak adapts to: water-ice prospecting / geological survey / tech demonstration</a:t>
            </a:r>
          </a:p>
          <a:p>
            <a:pPr/>
            <a:r>
              <a:rPr b="1"/>
              <a:t>Gap 4: No Public Validation Against Artemis III Sites</a:t>
            </a:r>
          </a:p>
          <a:p>
            <a:pPr lvl="1"/>
            <a:r>
              <a:t>Published tools not validated against NASA's current planning consensus sites</a:t>
            </a:r>
          </a:p>
          <a:p>
            <a:pPr/>
            <a:r>
              <a:rPr b="1"/>
              <a:t>Gap 5: Closed-Source, Inaccessible Implementations</a:t>
            </a:r>
          </a:p>
          <a:p>
            <a:pPr lvl="1"/>
            <a:r>
              <a:t>NASA RSVP and ALHAT — closed-source, not reproducible by broader research community</a:t>
            </a:r>
          </a:p>
          <a:p>
            <a:pPr lvl="1"/>
            <a:r>
              <a:t>Anveshak: fully open-source, reproducible, extensible baseline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77EFA-FF99-4AD1-8108-058728DC26F1}"/>
              </a:ext>
            </a:extLst>
          </p:cNvPr>
          <p:cNvSpPr txBox="1"/>
          <p:nvPr/>
        </p:nvSpPr>
        <p:spPr>
          <a:xfrm>
            <a:off x="609600" y="5947954"/>
            <a:ext cx="6801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accent1"/>
                </a:solidFill>
              </a:rPr>
              <a:t>https://en.wikipedia.org/wiki/Chart</a:t>
            </a:r>
          </a:p>
        </p:txBody>
      </p:sp>
    </p:spTree>
    <p:extLst>
      <p:ext uri="{BB962C8B-B14F-4D97-AF65-F5344CB8AC3E}">
        <p14:creationId xmlns:p14="http://schemas.microsoft.com/office/powerpoint/2010/main" val="29485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D66DB-B8B3-466F-A1B7-25084EF8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41C93-B24A-4F21-9D42-D22A50A33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Core Problem</a:t>
            </a:r>
            <a:endParaRPr lang="en-IN"/>
          </a:p>
          <a:p>
            <a:pPr lvl="1"/>
            <a:r>
              <a:t>Given NASA LRO LOLA DEM data (80–90°S), design and implement an open-source, web-deployable mission planning system that:</a:t>
            </a:r>
          </a:p>
          <a:p>
            <a:pPr/>
            <a:r>
              <a:rPr b="1"/>
              <a:t>Functional Requirements</a:t>
            </a:r>
          </a:p>
          <a:p>
            <a:pPr lvl="1"/>
            <a:r>
              <a:t>→  Automatically ingest and process terrain data (slope, roughness, quality mask)</a:t>
            </a:r>
          </a:p>
          <a:p>
            <a:pPr lvl="1"/>
            <a:r>
              <a:t>→  Apply ML to classify terrain and detect science targets</a:t>
            </a:r>
          </a:p>
          <a:p>
            <a:pPr lvl="1"/>
            <a:r>
              <a:t>→  Score candidate landing sites per configurable mission profile</a:t>
            </a:r>
          </a:p>
          <a:p>
            <a:pPr lvl="1"/>
            <a:r>
              <a:t>→  Plan energy-efficient traverse paths on 10,133×10,133 pixel grids</a:t>
            </a:r>
          </a:p>
          <a:p>
            <a:pPr lvl="1"/>
            <a:r>
              <a:t>→  Generate plain-English mission advisory reports</a:t>
            </a:r>
          </a:p>
          <a:p>
            <a:pPr/>
            <a:r>
              <a:rPr b="1"/>
              <a:t>Non-Functional Constraints</a:t>
            </a:r>
          </a:p>
          <a:p>
            <a:pPr lvl="1"/>
            <a:r>
              <a:t>✓  Correctness: validated against NASA Artemis III expert assessments</a:t>
            </a:r>
          </a:p>
          <a:p>
            <a:pPr lvl="1"/>
            <a:r>
              <a:t>✓  Performance: 18–45 sec end-to-end on 16 GB commodity hardware</a:t>
            </a:r>
          </a:p>
          <a:p>
            <a:pPr lvl="1"/>
            <a:r>
              <a:t>✓  Accessibility: no specialist GIS/ML expertise required</a:t>
            </a:r>
          </a:p>
          <a:p>
            <a:pPr lvl="1"/>
            <a:r>
              <a:t>✓  Reproducibility: open data + open-source software only</a:t>
            </a:r>
          </a:p>
          <a:p>
            <a:pPr lvl="1"/>
            <a:r>
              <a:t>✓  Extensibility: ready for multi-modal data integration</a:t>
            </a:r>
          </a:p>
        </p:txBody>
      </p:sp>
    </p:spTree>
    <p:extLst>
      <p:ext uri="{BB962C8B-B14F-4D97-AF65-F5344CB8AC3E}">
        <p14:creationId xmlns:p14="http://schemas.microsoft.com/office/powerpoint/2010/main" val="2836108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376BD-A6D8-4143-B41B-62CD528A6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ED57C-F54B-4EB3-B92C-A2DF12B85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1.  DEM Pipeline</a:t>
            </a:r>
            <a:endParaRPr lang="en-IN"/>
          </a:p>
          <a:p>
            <a:pPr lvl="1"/>
            <a:r>
              <a:t>Automated ingestion of LDEM_80S_20M.JP2; slope, roughness, quality mask at 60 m/px</a:t>
            </a:r>
          </a:p>
          <a:p>
            <a:pPr/>
            <a:r>
              <a:rPr b="1"/>
              <a:t>2.  Multi-Criteria Scoring</a:t>
            </a:r>
          </a:p>
          <a:p>
            <a:pPr lvl="1"/>
            <a:r>
              <a:t>Parameterised by mission profile (water-ice / geological / tech-demo); safety–science tradeoff</a:t>
            </a:r>
          </a:p>
          <a:p>
            <a:pPr/>
            <a:r>
              <a:rPr b="1"/>
              <a:t>3.  ML Terrain Classifier</a:t>
            </a:r>
          </a:p>
          <a:p>
            <a:pPr lvl="1"/>
            <a:r>
              <a:t>Random Forest, 99.17% accuracy, auto-labelled — no manual annotation</a:t>
            </a:r>
          </a:p>
          <a:p>
            <a:pPr/>
            <a:r>
              <a:rPr b="1"/>
              <a:t>4.  A* Pathfinder</a:t>
            </a:r>
          </a:p>
          <a:p>
            <a:pPr lvl="1"/>
            <a:r>
              <a:t>Terrain-aware exponential slope cost; 10,133×10,133 grid; 2M iteration budget</a:t>
            </a:r>
          </a:p>
          <a:p>
            <a:pPr/>
            <a:r>
              <a:rPr b="1"/>
              <a:t>5.  Science Target Detection</a:t>
            </a:r>
          </a:p>
          <a:p>
            <a:pPr lvl="1"/>
            <a:r>
              <a:t>DBSCAN anomaly detector — no pre-specified cluster count</a:t>
            </a:r>
          </a:p>
          <a:p>
            <a:pPr/>
            <a:r>
              <a:rPr b="1"/>
              <a:t>6.  Integrated Web Application</a:t>
            </a:r>
          </a:p>
          <a:p>
            <a:pPr lvl="1"/>
            <a:r>
              <a:t>FastAPI backend + interactive Plotly frontend + 8-section mission advisory report</a:t>
            </a:r>
          </a:p>
          <a:p>
            <a:pPr/>
            <a:r>
              <a:rPr b="1"/>
              <a:t>7.  Validation</a:t>
            </a:r>
          </a:p>
          <a:p>
            <a:pPr lvl="1"/>
            <a:r>
              <a:t>4 NASA Artemis III candidate sites + Chandrayaan-3 landing site — strong alignment confirmed</a:t>
            </a:r>
          </a:p>
        </p:txBody>
      </p:sp>
    </p:spTree>
    <p:extLst>
      <p:ext uri="{BB962C8B-B14F-4D97-AF65-F5344CB8AC3E}">
        <p14:creationId xmlns:p14="http://schemas.microsoft.com/office/powerpoint/2010/main" val="423154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2409-18C0-4820-8F03-CB3EC8C7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Tools / Platform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5002E-8818-4B1D-9C57-2C4EFA5A2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Backend &amp; Scientific Computing</a:t>
            </a:r>
            <a:endParaRPr lang="en-IN" dirty="0"/>
          </a:p>
          <a:p>
            <a:pPr lvl="1"/>
            <a:r>
              <a:t>Python 3.11 (Conda: lunar-planner)  |  FastAPI 0.100+  |  Uvicorn</a:t>
            </a:r>
          </a:p>
          <a:p>
            <a:pPr lvl="1"/>
            <a:r>
              <a:t>rasterio 1.3+ (DEM I/O)  |  NumPy 1.24+  |  SciPy 1.10+  |  pyproj 3.4+</a:t>
            </a:r>
          </a:p>
          <a:p>
            <a:pPr lvl="1"/>
            <a:r>
              <a:t>scikit-learn 1.3+ (Random Forest, DBSCAN, StandardScaler)  |  joblib</a:t>
            </a:r>
          </a:p>
          <a:p>
            <a:pPr/>
            <a:r>
              <a:rPr b="1"/>
              <a:t>Frontend</a:t>
            </a:r>
          </a:p>
          <a:p>
            <a:pPr lvl="1"/>
            <a:r>
              <a:t>HTML5 / CSS3 / Vanilla JavaScript  |  Plotly 5.14+ (interactive maps)</a:t>
            </a:r>
          </a:p>
          <a:p>
            <a:pPr lvl="1"/>
            <a:r>
              <a:t>Jinja2 3.1+ (server-side templating)</a:t>
            </a:r>
          </a:p>
          <a:p>
            <a:pPr/>
            <a:r>
              <a:rPr b="1"/>
              <a:t>Data Sources</a:t>
            </a:r>
          </a:p>
          <a:p>
            <a:pPr lvl="1"/>
            <a:r>
              <a:t>LDEM_80S_20M.JP2  — NASA LRO LOLA DEM, 80–90°S, 20 m/px (primary)</a:t>
            </a:r>
          </a:p>
          <a:p>
            <a:pPr lvl="1"/>
            <a:r>
              <a:t>LDEC_80S_20M.JP2  — observation-count quality mask</a:t>
            </a:r>
          </a:p>
          <a:p>
            <a:pPr lvl="1"/>
            <a:r>
              <a:t>LDEM_85S_10M.JP2, ldem_87s_5mpp.tif  — higher-res sub-regions</a:t>
            </a:r>
          </a:p>
          <a:p>
            <a:pPr/>
            <a:r>
              <a:rPr b="1"/>
              <a:t>Development Platform</a:t>
            </a:r>
          </a:p>
          <a:p>
            <a:pPr lvl="1"/>
            <a:r>
              <a:t>Windows 11  |  Intel Core i7  |  16 GB RAM  |  No GPU required</a:t>
            </a:r>
          </a:p>
          <a:p>
            <a:pPr/>
            <a:r>
              <a:rPr b="1"/>
              <a:t>Licence</a:t>
            </a:r>
          </a:p>
          <a:p>
            <a:pPr lvl="1"/>
            <a:r>
              <a:t>All dependencies: BSD / MIT open-source  |  Data: NASA public domain</a:t>
            </a:r>
          </a:p>
        </p:txBody>
      </p:sp>
    </p:spTree>
    <p:extLst>
      <p:ext uri="{BB962C8B-B14F-4D97-AF65-F5344CB8AC3E}">
        <p14:creationId xmlns:p14="http://schemas.microsoft.com/office/powerpoint/2010/main" val="2007934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0D131-2E2F-448E-99C7-3BF4F7C4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1654F-A06C-4EC2-8B46-9634B6CBD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554480"/>
            <a:ext cx="5852160" cy="5029200"/>
          </a:xfrm>
        </p:spPr>
        <p:txBody>
          <a:bodyPr/>
          <a:lstStyle/>
          <a:p>
            <a:pPr/>
            <a:r>
              <a:rPr b="1"/>
              <a:t>Three-Tier Web Application</a:t>
            </a:r>
            <a:endParaRPr lang="en-IN"/>
          </a:p>
          <a:p>
            <a:pPr lvl="1"/>
            <a:r>
              <a:t>Data tier: NASA LOLA JP2 files loaded in-memory on startup</a:t>
            </a:r>
          </a:p>
          <a:p>
            <a:pPr lvl="1"/>
            <a:r>
              <a:t>Application tier: Python FastAPI — 7 analytical modules</a:t>
            </a:r>
          </a:p>
          <a:p>
            <a:pPr lvl="1"/>
            <a:r>
              <a:t>Presentation tier: HTML/CSS/JS + Plotly interactive maps</a:t>
            </a:r>
          </a:p>
          <a:p>
            <a:pPr/>
            <a:r>
              <a:rPr b="1"/>
              <a:t>REST API Endpoints</a:t>
            </a:r>
          </a:p>
          <a:p>
            <a:pPr lvl="1"/>
            <a:r>
              <a:t>GET /       → main form interface</a:t>
            </a:r>
          </a:p>
          <a:p>
            <a:pPr lvl="1"/>
            <a:r>
              <a:t>GET /health → terrain load status (polled at 500 ms)</a:t>
            </a:r>
          </a:p>
          <a:p>
            <a:pPr lvl="1"/>
            <a:r>
              <a:t>GET /demo   → hardcoded water-ice RTG full analysis</a:t>
            </a:r>
          </a:p>
          <a:p>
            <a:pPr lvl="1"/>
            <a:r>
              <a:t>POST /analyze → RoverProfile JSON → full analysis JSON</a:t>
            </a:r>
          </a:p>
          <a:p>
            <a:pPr/>
            <a:r>
              <a:rPr b="1"/>
              <a:t>Per-Request Pipeline</a:t>
            </a:r>
          </a:p>
          <a:p>
            <a:pPr lvl="1"/>
            <a:r>
              <a:t>score_terrain → classify_terrain → detect_anomalies → generate_waypoints → find_path → generate_report → create_mission_map</a:t>
            </a:r>
          </a:p>
          <a:p>
            <a:pPr/>
            <a:r>
              <a:t>Long-running ops dispatched to ThreadPoolExecutor (non-blocking event loop)</a:t>
            </a:r>
          </a:p>
        </p:txBody>
      </p:sp>
      <p:pic>
        <p:nvPicPr>
          <p:cNvPr id="4" name="Picture 3" descr="terrain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669280" cy="188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96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F391-7EEE-4644-A559-D80F30EF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Issues Identified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1D491-843A-4773-9233-356938034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1. Memory Management</a:t>
            </a:r>
            <a:endParaRPr lang="en-IN"/>
          </a:p>
          <a:p>
            <a:pPr lvl="1"/>
            <a:r>
              <a:t>3× float32 arrays at 10,133×10,133 = 1.2 GB base; RF inference peaks at 1.8 GB</a:t>
            </a:r>
          </a:p>
          <a:p>
            <a:pPr lvl="1"/>
            <a:r>
              <a:t>Solution: 60 m/px downsampling (9× reduction) using rasterio Resampling.average</a:t>
            </a:r>
          </a:p>
          <a:p>
            <a:pPr/>
            <a:r>
              <a:rPr b="1"/>
              <a:t>2. CRS Complexity</a:t>
            </a:r>
          </a:p>
          <a:p>
            <a:pPr lvl="1"/>
            <a:r>
              <a:t>EPSG:104903 (Polar Stereographic Moon 2000) not in default proj4 builds</a:t>
            </a:r>
          </a:p>
          <a:p>
            <a:pPr lvl="1"/>
            <a:r>
              <a:t>Solution: pyproj.Transformer with memoised instances for coordinate conversion</a:t>
            </a:r>
          </a:p>
          <a:p>
            <a:pPr/>
            <a:r>
              <a:rPr b="1"/>
              <a:t>3. A* Runtime on 100M-Pixel Grid</a:t>
            </a:r>
          </a:p>
          <a:p>
            <a:pPr lvl="1"/>
            <a:r>
              <a:t>Pure Python heapq too slow; solution: 2M iteration limit + NumPy neighbour access</a:t>
            </a:r>
          </a:p>
          <a:p>
            <a:pPr/>
            <a:r>
              <a:rPr b="1"/>
              <a:t>4. JPEG2000 on Windows</a:t>
            </a:r>
          </a:p>
          <a:p>
            <a:pPr lvl="1"/>
            <a:r>
              <a:t>Default rasterio wheels lack openjpeg; solution: Conda-forge channel</a:t>
            </a:r>
          </a:p>
          <a:p>
            <a:pPr/>
            <a:r>
              <a:rPr b="1"/>
              <a:t>5. Auto-Labelling Circularity</a:t>
            </a:r>
          </a:p>
          <a:p>
            <a:pPr lvl="1"/>
            <a:r>
              <a:t>RF labels derived from scorer → independent 10k validation set + 5-fold CV</a:t>
            </a:r>
          </a:p>
          <a:p>
            <a:pPr/>
            <a:r>
              <a:rPr b="1"/>
              <a:t>6. DBSCAN Sensitivity</a:t>
            </a:r>
          </a:p>
          <a:p>
            <a:pPr lvl="1"/>
            <a:r>
              <a:t>eps/min_samples tuned across 5 subsamples; CV of cluster count &lt; 0.2</a:t>
            </a:r>
          </a:p>
          <a:p>
            <a:pPr/>
            <a:r>
              <a:rPr b="1"/>
              <a:t>7. Frontend Plotly Rendering</a:t>
            </a:r>
          </a:p>
          <a:p>
            <a:pPr lvl="1"/>
            <a:r>
              <a:t>Full-resolution heatmap &gt;100 MB; solution: downsampled to 512×512 for display</a:t>
            </a:r>
          </a:p>
        </p:txBody>
      </p:sp>
    </p:spTree>
    <p:extLst>
      <p:ext uri="{BB962C8B-B14F-4D97-AF65-F5344CB8AC3E}">
        <p14:creationId xmlns:p14="http://schemas.microsoft.com/office/powerpoint/2010/main" val="558914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5E5AE-BEF1-4FF5-AAD5-5536DF6F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Implementation — Core Modules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F6716-1D91-4294-9E1D-489D8205D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A. Terrain Analysis  (terrain.py)</a:t>
            </a:r>
            <a:endParaRPr lang="en-IN"/>
          </a:p>
          <a:p>
            <a:pPr lvl="1"/>
            <a:r>
              <a:t>Load LDEM_80S_20M.JP2 via rasterio → downsample to 60 m/px (10,133×10,133)</a:t>
            </a:r>
          </a:p>
          <a:p>
            <a:pPr lvl="1"/>
            <a:r>
              <a:t>Slope: numpy.gradient central differences →  arctan(√(∂E/∂x² + ∂E/∂y²))</a:t>
            </a:r>
          </a:p>
          <a:p>
            <a:pPr lvl="1"/>
            <a:r>
              <a:t>Roughness: scipy.ndimage.uniform_filter, 300 m (5 px) kernel</a:t>
            </a:r>
          </a:p>
          <a:p>
            <a:pPr lvl="1"/>
            <a:r>
              <a:t>Quality mask from LDEC (observation count &lt; 3 → flagged low quality)</a:t>
            </a:r>
          </a:p>
          <a:p>
            <a:pPr/>
            <a:r>
              <a:rPr b="1"/>
              <a:t>B. Landing Site Scoring  (landing_scorer.py)</a:t>
            </a:r>
          </a:p>
          <a:p>
            <a:pPr lvl="1"/>
            <a:r>
              <a:t>S_safe = f(slope, roughness, quality_mask, crater_rim_penalty)</a:t>
            </a:r>
          </a:p>
          <a:p>
            <a:pPr lvl="1"/>
            <a:r>
              <a:t>S_mission = f(mission_type: water-ice | geological | tech-demo)</a:t>
            </a:r>
          </a:p>
          <a:p>
            <a:pPr lvl="1"/>
            <a:r>
              <a:t>S_final = 0.6·S_safe + 0.4·S_mission  →  top-10 local maxima (50 px separation)</a:t>
            </a:r>
          </a:p>
          <a:p>
            <a:pPr lvl="1"/>
            <a:r>
              <a:t>RF class bonus: SAFE_LANDING +0.05, HAZARD_ZONE −0.15, SCIENCE_TARGET +0.10</a:t>
            </a:r>
          </a:p>
          <a:p>
            <a:pPr/>
            <a:r>
              <a:rPr b="1"/>
              <a:t>C. Pathfinding  (pathfinder.py)</a:t>
            </a:r>
          </a:p>
          <a:p>
            <a:pPr lvl="1"/>
            <a:r>
              <a:t>A* search, 8-directional, cost = d · exp(0.3 · max(slope − 10°, 0))</a:t>
            </a:r>
          </a:p>
          <a:p>
            <a:pPr lvl="1"/>
            <a:r>
              <a:t>2M iteration limit; partial path + advisory warning if reached</a:t>
            </a:r>
          </a:p>
          <a:p>
            <a:pPr lvl="1"/>
            <a:r>
              <a:t>generate_waypoints() incorporates anomaly cluster centroids into target sequence</a:t>
            </a:r>
          </a:p>
        </p:txBody>
      </p:sp>
    </p:spTree>
    <p:extLst>
      <p:ext uri="{BB962C8B-B14F-4D97-AF65-F5344CB8AC3E}">
        <p14:creationId xmlns:p14="http://schemas.microsoft.com/office/powerpoint/2010/main" val="1850461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AD53E-992D-4D39-9216-BD24B615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Methodology &amp; Implementation — ML Modules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7804-4925-4312-BAAF-7FBCFAB07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D. Terrain Classifier  (terrain_classifier.py)</a:t>
            </a:r>
            <a:endParaRPr lang="en-IN"/>
          </a:p>
          <a:p>
            <a:pPr lvl="1"/>
            <a:r>
              <a:t>100-tree Random Forest, 8 features, 50k auto-labelled training samples</a:t>
            </a:r>
          </a:p>
          <a:p>
            <a:pPr lvl="1"/>
            <a:r>
              <a:t>Classes: HAZARD_ZONE (2.2%) | RISKY_LANDING (23.9%) | TRAVERSE_CORRIDOR (40.2%) | SAFE_LANDING (33.7%) | SCIENCE_TARGET (0.001%)</a:t>
            </a:r>
          </a:p>
          <a:p>
            <a:pPr lvl="1"/>
            <a:r>
              <a:t>Validation accuracy: 99.17% on independent 10k held-out set | Model: 13.7 MB</a:t>
            </a:r>
          </a:p>
          <a:p>
            <a:pPr/>
            <a:r>
              <a:rPr b="1"/>
              <a:t>E. Anomaly Detection  (anomaly_detector.py)</a:t>
            </a:r>
          </a:p>
          <a:p>
            <a:pPr lvl="1"/>
            <a:r>
              <a:t>DBSCAN (ε=0.5, min_samples=10) on 4-feature normalised space (20k subsample)</a:t>
            </a:r>
          </a:p>
          <a:p>
            <a:pPr lvl="1"/>
            <a:r>
              <a:t>4 types: THERMAL_PROXY | ELEVATION_ANOMALY | ROUGHNESS_ANOMALY | SLOPE_TRANSITION</a:t>
            </a:r>
          </a:p>
          <a:p>
            <a:pPr/>
            <a:r>
              <a:rPr b="1"/>
              <a:t>F. Energy Model  (energy_model.py)</a:t>
            </a:r>
          </a:p>
          <a:p>
            <a:pPr lvl="1"/>
            <a:r>
              <a:t>W_mech = m·g·d·sin(θ) + μr·m·g·d·cos(θ),   g = 1.62 m/s²,   μr = 0.15</a:t>
            </a:r>
          </a:p>
          <a:p>
            <a:pPr lvl="1"/>
            <a:r>
              <a:t>Motor efficiency η = 0.7; baseline electronics power; solar illumination model</a:t>
            </a:r>
          </a:p>
          <a:p>
            <a:pPr/>
            <a:r>
              <a:rPr b="1"/>
              <a:t>G. Mission Advisory  (mission_advisor.py)</a:t>
            </a:r>
          </a:p>
          <a:p>
            <a:pPr lvl="1"/>
            <a:r>
              <a:t>Rule-based 8-section NLG report: Overview → Site Assessment → Safety → Science → Path → Anomalies → Energy → Recommendations</a:t>
            </a:r>
          </a:p>
          <a:p>
            <a:pPr lvl="1"/>
            <a:r>
              <a:t>Feasibility: NOMINAL / MARGINAL / HIGH_RISK (threshold-based)</a:t>
            </a:r>
          </a:p>
        </p:txBody>
      </p:sp>
    </p:spTree>
    <p:extLst>
      <p:ext uri="{BB962C8B-B14F-4D97-AF65-F5344CB8AC3E}">
        <p14:creationId xmlns:p14="http://schemas.microsoft.com/office/powerpoint/2010/main" val="1302113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5EB9-1EE5-4622-9FC1-39A4D2E8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&amp; Output Screenshots</a:t>
            </a:r>
            <a:endParaRPr lang="en-IN" dirty="0"/>
          </a:p>
        </p:txBody>
      </p:sp>
      <p:pic>
        <p:nvPicPr>
          <p:cNvPr id="3" name="Picture 2" descr="frontend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3703320" cy="1807828"/>
          </a:xfrm>
          <a:prstGeom prst="rect">
            <a:avLst/>
          </a:prstGeom>
        </p:spPr>
      </p:pic>
      <p:pic>
        <p:nvPicPr>
          <p:cNvPr id="4" name="Picture 3" descr="mission_map_in_original ax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417320"/>
            <a:ext cx="3977639" cy="2007781"/>
          </a:xfrm>
          <a:prstGeom prst="rect">
            <a:avLst/>
          </a:prstGeom>
        </p:spPr>
      </p:pic>
      <p:pic>
        <p:nvPicPr>
          <p:cNvPr id="5" name="Picture 4" descr="map_with_path_sh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417320"/>
            <a:ext cx="3749039" cy="1930238"/>
          </a:xfrm>
          <a:prstGeom prst="rect">
            <a:avLst/>
          </a:prstGeom>
        </p:spPr>
      </p:pic>
      <p:pic>
        <p:nvPicPr>
          <p:cNvPr id="6" name="Picture 5" descr="mission_summary_genera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977639"/>
            <a:ext cx="3703320" cy="1756354"/>
          </a:xfrm>
          <a:prstGeom prst="rect">
            <a:avLst/>
          </a:prstGeom>
        </p:spPr>
      </p:pic>
      <p:pic>
        <p:nvPicPr>
          <p:cNvPr id="7" name="Picture 6" descr="score_chart_with_top_landing_sit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977639"/>
            <a:ext cx="7863840" cy="39861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794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5050"/>
                </a:solidFill>
              </a:rPr>
              <a:t>(a) Web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794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5050"/>
                </a:solidFill>
              </a:rPr>
              <a:t>(b) Mission Score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7947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5050"/>
                </a:solidFill>
              </a:rPr>
              <a:t>(c) Map with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5050"/>
                </a:solidFill>
              </a:rPr>
              <a:t>(d) Mission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400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05050"/>
                </a:solidFill>
              </a:rPr>
              <a:t>(e) Score Chart – Top Sites</a:t>
            </a:r>
          </a:p>
        </p:txBody>
      </p:sp>
    </p:spTree>
    <p:extLst>
      <p:ext uri="{BB962C8B-B14F-4D97-AF65-F5344CB8AC3E}">
        <p14:creationId xmlns:p14="http://schemas.microsoft.com/office/powerpoint/2010/main" val="2002917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345A-1B5C-425E-9CDC-1B17858D4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Performance Evaluation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20040" y="14173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</a:rPr>
              <a:t>Terrain Classification Results (10,000-sample validation 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783080"/>
          <a:ext cx="5669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</a:tblGrid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Prevalence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HAZARD_ZONE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2.2%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RISKY_LANDING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23.9%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0.993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TRAVERSE_CORRIDOR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40.2%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SAFE_LANDING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33.7%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0.993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SCIENCE_TARGET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0.001%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1.000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1.000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1.000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Overall Accuracy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99.17%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41732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</a:rPr>
              <a:t>System Runtime (Intel Core i7, 16 GB RAM)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783080"/>
          <a:ext cx="56692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Runtime (s)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Memory Peak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DEM Load + Metrics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11.8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1,240 MB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Landing Scorer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2.3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1,340 MB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RF Inference (full grid)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12.1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1,800 MB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DBSCAN Anomaly Det.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1,280 MB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A* Pathfinder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1.4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1,260 MB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Mission Advisor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0.1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1,250 MB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Plotly HTML Gen.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1.2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1,300 MB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Total (excl. DEM load)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18–45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1,800 MB peak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5241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C59B-F66B-47FD-898B-5DAE6502C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— Artemis III &amp; Chandrayaan-3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320040" y="14173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</a:rPr>
              <a:t>Scoring Validation Against NASA Expert Assessments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783080"/>
          <a:ext cx="11521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  <a:gridCol w="1645920"/>
                <a:gridCol w="1645920"/>
              </a:tblGrid>
              <a:tr h="4419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Lat/Lon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Safety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Mission
(WI)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Final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NASA Assessment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Shackleton Ridge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89.9°S / 0°E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0.71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0.52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0.603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SAFE_LANDING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✓ #1 Artemis III priority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Faustini Crater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87.3°S / 87.0°E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0.000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0.643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HAZARD_ZONE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✓ High science, inaccessible floor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Haworth Edge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87.5°S / 357.0°E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0.44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0.57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0.505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RISKY_LANDING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✓ Marginal safety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Nobile 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85.2°S / 53.2°E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0.51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0.49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0.501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TRAVERSE_CORRIDOR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✓ Marginal, alternative route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Chandrayaan-3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69.37°S / 32.32°E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Out of bounds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/>
                        <a:t>✓ Outside 80–90°S — scientifically correct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c3_valida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526280"/>
            <a:ext cx="6400800" cy="3629722"/>
          </a:xfrm>
          <a:prstGeom prst="rect">
            <a:avLst/>
          </a:prstGeom>
        </p:spPr>
      </p:pic>
      <p:pic>
        <p:nvPicPr>
          <p:cNvPr id="6" name="Picture 5" descr="chandrayaan3validation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526280"/>
            <a:ext cx="5120640" cy="242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6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F5F2E-44BD-40D3-939F-A7EA139C1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17" y="365125"/>
            <a:ext cx="10515600" cy="1325563"/>
          </a:xfrm>
        </p:spPr>
        <p:txBody>
          <a:bodyPr>
            <a:normAutofit/>
          </a:bodyPr>
          <a:lstStyle/>
          <a:p>
            <a:r>
              <a:t>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97C33-10A2-4866-842C-9EEB9BBC6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Delivered</a:t>
            </a:r>
            <a:endParaRPr lang="en-IN" dirty="0"/>
          </a:p>
          <a:p>
            <a:pPr lvl="1"/>
            <a:r>
              <a:t>✓  Fully functional web-based mission planning system — 7 integrated modules</a:t>
            </a:r>
          </a:p>
          <a:p>
            <a:pPr lvl="1"/>
            <a:r>
              <a:t>✓  RF terrain classifier: 99.17% accuracy, zero manual annotations required</a:t>
            </a:r>
          </a:p>
          <a:p>
            <a:pPr lvl="1"/>
            <a:r>
              <a:t>✓  A* pathfinder: interactive paths on 10,133×10,133 grids in ~1.4 sec</a:t>
            </a:r>
          </a:p>
          <a:p>
            <a:pPr lvl="1"/>
            <a:r>
              <a:t>✓  DBSCAN science target detector: 12 clusters/run (median, range 8–19)</a:t>
            </a:r>
          </a:p>
          <a:p>
            <a:pPr lvl="1"/>
            <a:r>
              <a:t>✓  Validated against 4 NASA Artemis III sites + Chandrayaan-3 — strong alignment</a:t>
            </a:r>
          </a:p>
          <a:p>
            <a:pPr lvl="1"/>
            <a:r>
              <a:t>✓  Research paper manuscript prepared for submission (April 2026)</a:t>
            </a:r>
          </a:p>
          <a:p>
            <a:pPr/>
            <a:r>
              <a:rPr b="1"/>
              <a:t>Scientific / Engineering Impact</a:t>
            </a:r>
          </a:p>
          <a:p>
            <a:pPr lvl="1"/>
            <a:r>
              <a:t>→  Expert-quality lunar mission analysis at interactive latencies on commodity hardware</a:t>
            </a:r>
          </a:p>
          <a:p>
            <a:pPr lvl="1"/>
            <a:r>
              <a:t>→  Auto-labelling methodology applicable to any data-rich planetary surface problem</a:t>
            </a:r>
          </a:p>
          <a:p>
            <a:pPr lvl="1"/>
            <a:r>
              <a:t>→  Open-source reproducible baseline for multi-modal planetary mission planning</a:t>
            </a:r>
          </a:p>
          <a:p>
            <a:pPr/>
            <a:r>
              <a:rPr b="1"/>
              <a:t>Future Directions</a:t>
            </a:r>
          </a:p>
          <a:p>
            <a:pPr lvl="1"/>
            <a:r>
              <a:t>Mini-RF CPR integration  |  Horizon-integrated illumination model  |  Multi-rover planning</a:t>
            </a:r>
          </a:p>
        </p:txBody>
      </p:sp>
    </p:spTree>
    <p:extLst>
      <p:ext uri="{BB962C8B-B14F-4D97-AF65-F5344CB8AC3E}">
        <p14:creationId xmlns:p14="http://schemas.microsoft.com/office/powerpoint/2010/main" val="2590837857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2B2C475-9298-48F8-BD74-016528FF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Gantt Chart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417320"/>
          <a:ext cx="117957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/>
                <a:gridCol w="1310640"/>
                <a:gridCol w="1310640"/>
                <a:gridCol w="1310640"/>
                <a:gridCol w="1310640"/>
                <a:gridCol w="1310640"/>
                <a:gridCol w="1310640"/>
                <a:gridCol w="1310640"/>
                <a:gridCol w="1310640"/>
              </a:tblGrid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S.No.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Oct
2025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Nov
2025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Dec
2025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Jan
2026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Feb
2026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Mar
2026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Apr
2026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Literature Review &amp; Problem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Data Collection &amp; Preprocessing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Terrain Analysis (terrain.py)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Landing Site Scoring (landing_scorer.py)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A* Pathfinding (pathfinder.py)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Visualisation (visualizer.py)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Terrain Classifier — 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Anomaly Detection — DBSCAN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Energy Model &amp; Mission Advisor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Web Interface (FastAPI + HTML/CSS/JS)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System Integration &amp;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Validation (Artemis III, Chandrayaan-3)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Synopsis Report Writing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341376"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Research Paper Writing &amp; Submission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" y="6537960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05050"/>
                </a:solidFill>
              </a:rPr>
              <a:t>Blue = active period.  Implementation: Oct 2025 – Mar 2026.  Research paper: Mar – Apr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2B2C475-9298-48F8-BD74-016528FF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Responsibility Chart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417320"/>
          <a:ext cx="117957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/>
                <a:gridCol w="2948940"/>
                <a:gridCol w="2948940"/>
                <a:gridCol w="2948940"/>
              </a:tblGrid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Task / Module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Garima
(22CSU067)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Garima Juneja
(22CSU068)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Aryan
(22CSU031)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Literature Survey &amp; Background Research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Data Collection (NASA PDS)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Preprocessing + Terrain Analysis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/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Landing Scorer + A* Pathfinder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RF Terrain Classifier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/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Anomaly Detection + Energy Model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Mission Advisor + Integration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/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FastAPI Backend (main.py)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Frontend HTML/CSS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/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JS AJAX + Plotly Integration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Validation (Artemis III / C3)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Documentation &amp; README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Synopsis Report Writing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Research Paper Drafting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301214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Presentation Preparation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</a:tr>
              <a:tr h="301216">
                <a:tc>
                  <a:txBody>
                    <a:bodyPr wrap="square"/>
                    <a:lstStyle/>
                    <a:p>
                      <a:pPr algn="l"/>
                      <a:r>
                        <a:rPr sz="1000" b="0"/>
                        <a:t>Meeting Notes &amp; Progress Tracking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/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P</a:t>
                      </a:r>
                    </a:p>
                  </a:txBody>
                  <a:tcPr>
                    <a:solidFill>
                      <a:srgbClr val="54823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" y="6537960"/>
            <a:ext cx="1179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05050"/>
                </a:solidFill>
              </a:rPr>
              <a:t>P = Primary (green)   |   S = Supporting (yellow)   |   — = No direct involvement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2B2C475-9298-48F8-BD74-016528FF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Broader Impact &amp; Research Paper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CED4-649F-4520-8E5D-EFEF88156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Broader Impact</a:t>
            </a:r>
            <a:endParaRPr lang="en-IN" dirty="0"/>
          </a:p>
          <a:p>
            <a:pPr lvl="1"/>
            <a:r>
              <a:t>Democratises lunar mission planning — accessible without proprietary GIS tools</a:t>
            </a:r>
          </a:p>
          <a:p>
            <a:pPr lvl="1"/>
            <a:r>
              <a:t>Reproducible open-source pipeline for the planetary science community</a:t>
            </a:r>
          </a:p>
          <a:p>
            <a:pPr lvl="1"/>
            <a:r>
              <a:t>Auto-labelling methodology eliminates annotation bottleneck for planetary ML</a:t>
            </a:r>
          </a:p>
          <a:p>
            <a:pPr lvl="1"/>
            <a:r>
              <a:t>Extensible baseline: ready for Mini-RF SAR, Diviner thermal, spectral data integration</a:t>
            </a:r>
          </a:p>
          <a:p>
            <a:pPr lvl="1"/>
            <a:r>
              <a:t>ISRU potential: identifies water-ice prospecting targets for future human missions</a:t>
            </a:r>
          </a:p>
          <a:p>
            <a:pPr lvl="1"/>
            <a:r>
              <a:t>Supports India's Chandrayaan / Artemis mission planning community</a:t>
            </a:r>
          </a:p>
          <a:p>
            <a:pPr/>
            <a:r>
              <a:rPr b="1"/>
              <a:t>Research Paper Status</a:t>
            </a:r>
          </a:p>
          <a:p>
            <a:pPr lvl="1"/>
            <a:r>
              <a:t>Title: "Multi-Resolution Terrain Fusion and ML-Based Adaptive Landing Site</a:t>
            </a:r>
          </a:p>
          <a:p>
            <a:pPr lvl="1"/>
            <a:r>
              <a:t>         Selection for Lunar South Pole Rover Missions"</a:t>
            </a:r>
          </a:p>
          <a:p>
            <a:pPr lvl="1"/>
            <a:r>
              <a:t>Authors: Garima, Garima Juneja, Aryan (under supervision of Dr. Snehlata Sheoran, Dr. Ankita Bhalla)</a:t>
            </a:r>
          </a:p>
          <a:p>
            <a:pPr lvl="1"/>
            <a:r>
              <a:t>Status: Manuscript prepared → targeting submission April 2026</a:t>
            </a:r>
          </a:p>
          <a:p>
            <a:pPr lvl="1"/>
            <a:r>
              <a:t>Target venue: IEEE / Elsevier — Planetary &amp; Space Science or AI+Robotics journal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2B2C475-9298-48F8-BD74-016528FF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Screenshot of MS-Meetings (Online) / Guide Comments (Offline)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17320"/>
            <a:ext cx="3749039" cy="2468880"/>
          </a:xfrm>
          <a:prstGeom prst="rect">
            <a:avLst/>
          </a:prstGeom>
          <a:noFill/>
          <a:ln w="12700"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787878"/>
                </a:solidFill>
              </a:rPr>
              <a:t>[ Please attach
MS Teams screenshot
or guide comment ]
Oct 2025
Project Scoping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1417320"/>
            <a:ext cx="3749039" cy="2468880"/>
          </a:xfrm>
          <a:prstGeom prst="rect">
            <a:avLst/>
          </a:prstGeom>
          <a:noFill/>
          <a:ln w="12700"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787878"/>
                </a:solidFill>
              </a:rPr>
              <a:t>[ Please attach
MS Teams screenshot
or guide comment ]
Nov 2025
Terrain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417320"/>
            <a:ext cx="3749039" cy="2468880"/>
          </a:xfrm>
          <a:prstGeom prst="rect">
            <a:avLst/>
          </a:prstGeom>
          <a:noFill/>
          <a:ln w="12700"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787878"/>
                </a:solidFill>
              </a:rPr>
              <a:t>[ Please attach
MS Teams screenshot
or guide comment ]
Dec 2025
Scoring &amp; 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60520"/>
            <a:ext cx="3749039" cy="2468880"/>
          </a:xfrm>
          <a:prstGeom prst="rect">
            <a:avLst/>
          </a:prstGeom>
          <a:noFill/>
          <a:ln w="12700"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787878"/>
                </a:solidFill>
              </a:rPr>
              <a:t>[ Please attach
MS Teams screenshot
or guide comment ]
Jan 2026
Mid-Term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4160520"/>
            <a:ext cx="3749039" cy="2468880"/>
          </a:xfrm>
          <a:prstGeom prst="rect">
            <a:avLst/>
          </a:prstGeom>
          <a:noFill/>
          <a:ln w="12700"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787878"/>
                </a:solidFill>
              </a:rPr>
              <a:t>[ Please attach
MS Teams screenshot
or guide comment ]
Feb 2026
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160520"/>
            <a:ext cx="3749039" cy="2468880"/>
          </a:xfrm>
          <a:prstGeom prst="rect">
            <a:avLst/>
          </a:prstGeom>
          <a:noFill/>
          <a:ln w="12700">
            <a:solidFill>
              <a:srgbClr val="AAAAAA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787878"/>
                </a:solidFill>
              </a:rPr>
              <a:t>[ Please attach
MS Teams screenshot
or guide comment ]
Mar 2026
Validation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C2B2C475-9298-48F8-BD74-016528FFA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CED4-649F-4520-8E5D-EFEF88156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Key References</a:t>
            </a:r>
            <a:endParaRPr lang="en-IN" dirty="0"/>
          </a:p>
          <a:p>
            <a:pPr lvl="1"/>
            <a:r>
              <a:t>[1] Colaprete et al., 'Detection of Water in LCROSS Ejecta Plume,' Science, 2010</a:t>
            </a:r>
          </a:p>
          <a:p>
            <a:pPr lvl="1"/>
            <a:r>
              <a:t>[5] Smith et al., 'LOLA Investigation on LRO Mission,' Space Sci. Rev., 2010</a:t>
            </a:r>
          </a:p>
          <a:p>
            <a:pPr lvl="1"/>
            <a:r>
              <a:t>[8] Golombek et al., 'Selection of MER Landing Sites,' JGR Planets, 2003</a:t>
            </a:r>
          </a:p>
          <a:p>
            <a:pPr lvl="1"/>
            <a:r>
              <a:t>[13] Stentz, 'Optimal Path Planning for Partially Known Environments,' ICRA, 1994</a:t>
            </a:r>
          </a:p>
          <a:p>
            <a:pPr lvl="1"/>
            <a:r>
              <a:t>[15] Ester et al., 'DBSCAN,' KDD, 1996</a:t>
            </a:r>
          </a:p>
          <a:p>
            <a:pPr lvl="1"/>
            <a:r>
              <a:t>[18] Lemelin et al., 'High-Priority Lunar Landing Sites,' Planet. Space Sci., 2014</a:t>
            </a:r>
          </a:p>
          <a:p>
            <a:pPr lvl="1"/>
            <a:r>
              <a:t>[20] Pedregosa et al., 'Scikit-learn: ML in Python,' JMLR, 2011</a:t>
            </a:r>
          </a:p>
          <a:p>
            <a:pPr/>
            <a:r>
              <a:t/>
            </a:r>
          </a:p>
          <a:p>
            <a:pPr/>
            <a:r>
              <a:rPr b="1"/>
              <a:t>Queries / Contact</a:t>
            </a:r>
          </a:p>
          <a:p>
            <a:pPr lvl="1"/>
            <a:r>
              <a:t>Garima (22CSU067)  |  Garima Juneja (22CSU068)  |  Aryan (22CSU031)</a:t>
            </a:r>
          </a:p>
          <a:p>
            <a:pPr lvl="1"/>
            <a:r>
              <a:t>Supervisors: Dr. Snehlata Sheoran  |  Dr. Ankita Bhalla</a:t>
            </a:r>
          </a:p>
          <a:p>
            <a:pPr lvl="1"/>
            <a:r>
              <a:t>Dept. of CSE, The NorthCap University, Gurugram – 122001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108</Words>
  <Application>Microsoft Office PowerPoint</Application>
  <PresentationFormat>Widescreen</PresentationFormat>
  <Paragraphs>23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Final Year Project (End term) Session:2021-2022</vt:lpstr>
      <vt:lpstr>PowerPoint Presentation</vt:lpstr>
      <vt:lpstr>Description Of The Topic</vt:lpstr>
      <vt:lpstr>Feasibility Study</vt:lpstr>
      <vt:lpstr>Existing Solutions/Literature Review</vt:lpstr>
      <vt:lpstr>GAPS in existing solution/literature review</vt:lpstr>
      <vt:lpstr>Problem Statement</vt:lpstr>
      <vt:lpstr>Objectives</vt:lpstr>
      <vt:lpstr>Tools/platform Used</vt:lpstr>
      <vt:lpstr>Design Methodology </vt:lpstr>
      <vt:lpstr>Challenges and Issues identified</vt:lpstr>
      <vt:lpstr>Methodology &amp;Implementation/ Interface and Design Implementation</vt:lpstr>
      <vt:lpstr>Testing and Performance Evaluation</vt:lpstr>
      <vt:lpstr>Outcome</vt:lpstr>
      <vt:lpstr>GANTT Chart</vt:lpstr>
      <vt:lpstr>Responsibility Chart</vt:lpstr>
      <vt:lpstr>Broader Impact factor Status</vt:lpstr>
      <vt:lpstr>Screenshot of MS-Meetings(online)/comments(offline) by Guide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yogita gigras</cp:lastModifiedBy>
  <cp:revision>11</cp:revision>
  <dcterms:created xsi:type="dcterms:W3CDTF">2021-08-06T15:24:41Z</dcterms:created>
  <dcterms:modified xsi:type="dcterms:W3CDTF">2022-02-16T06:54:21Z</dcterms:modified>
</cp:coreProperties>
</file>